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704088"/>
            <a:ext cx="1051560" cy="384048"/>
          </a:xfrm>
          <a:prstGeom prst="roundRect">
            <a:avLst>
              <a:gd name="adj" fmla="val 42857"/>
            </a:avLst>
          </a:prstGeom>
          <a:solidFill>
            <a:srgbClr val="1D9BF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82880" cy="182880"/>
          </a:xfrm>
          <a:prstGeom prst="rect">
            <a:avLst/>
          </a:prstGeom>
          <a:solidFill>
            <a:srgbClr val="1D9BF0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502920"/>
            <a:ext cx="182880" cy="182880"/>
          </a:xfrm>
          <a:prstGeom prst="rect">
            <a:avLst/>
          </a:prstGeom>
          <a:solidFill>
            <a:srgbClr val="1D9BF0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502920"/>
            <a:ext cx="182880" cy="182880"/>
          </a:xfrm>
          <a:prstGeom prst="rect">
            <a:avLst/>
          </a:prstGeom>
          <a:solidFill>
            <a:srgbClr val="1D9BF0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502920"/>
            <a:ext cx="182880" cy="182880"/>
          </a:xfrm>
          <a:prstGeom prst="rect">
            <a:avLst/>
          </a:prstGeom>
          <a:solidFill>
            <a:srgbClr val="1D9BF0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301752"/>
            <a:ext cx="182880" cy="182880"/>
          </a:xfrm>
          <a:prstGeom prst="rect">
            <a:avLst/>
          </a:prstGeom>
          <a:solidFill>
            <a:srgbClr val="1D9BF0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01752"/>
            <a:ext cx="182880" cy="182880"/>
          </a:xfrm>
          <a:prstGeom prst="rect">
            <a:avLst/>
          </a:prstGeom>
          <a:solidFill>
            <a:srgbClr val="1D9BF0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00000">
            <a:off x="1417320" y="630936"/>
            <a:ext cx="256032" cy="274320"/>
          </a:xfrm>
          <a:prstGeom prst="triangle">
            <a:avLst/>
          </a:prstGeom>
          <a:solidFill>
            <a:srgbClr val="1D9BF0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" y="484632"/>
            <a:ext cx="0" cy="201168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011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m365pnp/spfx</a:t>
            </a:r>
            <a:pPr algn="l" indent="0" marL="0">
              <a:buNone/>
            </a:pPr>
            <a:r>
              <a:rPr lang="en-US" sz="3000" dirty="0">
                <a:solidFill>
                  <a:srgbClr val="9FB3C8"/>
                </a:solidFill>
              </a:rPr>
              <a:t>  Docker images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47088" y="78638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6E5"/>
                </a:solidFill>
              </a:rPr>
              <a:t>SharePoint Framework toolchain in a container — no local Node, Yeoman or gulp to install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46920" y="31089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1D9BF0"/>
          </a:solidFill>
          <a:ln/>
        </p:spPr>
      </p:sp>
      <p:sp>
        <p:nvSpPr>
          <p:cNvPr id="15" name="Text 13"/>
          <p:cNvSpPr/>
          <p:nvPr/>
        </p:nvSpPr>
        <p:spPr>
          <a:xfrm>
            <a:off x="9646920" y="31089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Hub · m365pnp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46920" y="822960"/>
            <a:ext cx="1024128" cy="402336"/>
          </a:xfrm>
          <a:prstGeom prst="roundRect">
            <a:avLst>
              <a:gd name="adj" fmla="val 22727"/>
            </a:avLst>
          </a:prstGeom>
          <a:solidFill>
            <a:srgbClr val="0B2545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822960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6E5"/>
                </a:solidFill>
              </a:rPr>
              <a:t>M365 PnP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771632" y="822960"/>
            <a:ext cx="1024128" cy="402336"/>
          </a:xfrm>
          <a:prstGeom prst="roundRect">
            <a:avLst>
              <a:gd name="adj" fmla="val 22727"/>
            </a:avLst>
          </a:prstGeom>
          <a:solidFill>
            <a:srgbClr val="0B72B9"/>
          </a:solidFill>
          <a:ln/>
        </p:spPr>
      </p:sp>
      <p:sp>
        <p:nvSpPr>
          <p:cNvPr id="19" name="Text 17"/>
          <p:cNvSpPr/>
          <p:nvPr/>
        </p:nvSpPr>
        <p:spPr>
          <a:xfrm>
            <a:off x="10771632" y="822960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SPFx 1.23.2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1572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72B9"/>
                </a:solidFill>
              </a:rPr>
              <a:t>WHAT IT DOES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1938528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2203704"/>
            <a:ext cx="137160" cy="137160"/>
          </a:xfrm>
          <a:prstGeom prst="ellipse">
            <a:avLst/>
          </a:prstGeom>
          <a:solidFill>
            <a:srgbClr val="0B72B9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212140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545"/>
                </a:solidFill>
              </a:rPr>
              <a:t>Full SPFx toolchain, prebuilt
</a:t>
            </a:r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B"/>
                </a:solidFill>
              </a:rPr>
              <a:t>Node 22 + Yeoman, SPFx generator, pnpm &amp; Heft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3232" y="3026664"/>
            <a:ext cx="137160" cy="137160"/>
          </a:xfrm>
          <a:prstGeom prst="ellipse">
            <a:avLst/>
          </a:prstGeom>
          <a:solidFill>
            <a:srgbClr val="0B72B9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294436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545"/>
                </a:solidFill>
              </a:rPr>
              <a:t>Scaffold, build &amp; serve
</a:t>
            </a:r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B"/>
                </a:solidFill>
              </a:rPr>
              <a:t>Web parts &amp; extensions inside the container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" y="3849624"/>
            <a:ext cx="137160" cy="137160"/>
          </a:xfrm>
          <a:prstGeom prst="ellipse">
            <a:avLst/>
          </a:prstGeom>
          <a:solidFill>
            <a:srgbClr val="0B72B9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376732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545"/>
                </a:solidFill>
              </a:rPr>
              <a:t>Your code stays on your machine
</a:t>
            </a:r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B"/>
                </a:solidFill>
              </a:rPr>
              <a:t>Project is volume-mounted; commit from the host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13232" y="4672584"/>
            <a:ext cx="137160" cy="137160"/>
          </a:xfrm>
          <a:prstGeom prst="ellipse">
            <a:avLst/>
          </a:prstGeom>
          <a:solidFill>
            <a:srgbClr val="0B72B9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59028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545"/>
                </a:solidFill>
              </a:rPr>
              <a:t>Consistent for the whole team
</a:t>
            </a:r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B"/>
                </a:solidFill>
              </a:rPr>
              <a:t>Same tool versions, nothing installed locally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13232" y="5495544"/>
            <a:ext cx="137160" cy="137160"/>
          </a:xfrm>
          <a:prstGeom prst="ellipse">
            <a:avLst/>
          </a:prstGeom>
          <a:solidFill>
            <a:srgbClr val="0B72B9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41324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545"/>
                </a:solidFill>
              </a:rPr>
              <a:t>Runs anywhere
</a:t>
            </a:r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A6B7B"/>
                </a:solidFill>
              </a:rPr>
              <a:t>Docker CLI, VS Code Dev Container or Codespaces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17720" y="15727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3A10E"/>
                </a:solidFill>
              </a:rPr>
              <a:t>HOW TO USE IT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17720" y="1938528"/>
            <a:ext cx="71780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1938528"/>
            <a:ext cx="109728" cy="2084832"/>
          </a:xfrm>
          <a:prstGeom prst="roundRect">
            <a:avLst>
              <a:gd name="adj" fmla="val 50000"/>
            </a:avLst>
          </a:prstGeom>
          <a:solidFill>
            <a:srgbClr val="13A10E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04825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Option 1  </a:t>
            </a:r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</a:rPr>
              <a:t>Run from the command line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2432304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</a:rPr>
              <a:t>macOS / Linux  —  from your project folder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2651760"/>
            <a:ext cx="6720840" cy="365760"/>
          </a:xfrm>
          <a:prstGeom prst="rect">
            <a:avLst/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--rm -v $PWD:/usr/app/spfx -p 4321:4321 -p 35729:35729 m365pnp/spfx:latest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3072384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</a:rPr>
              <a:t>Windows PowerShell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3291840"/>
            <a:ext cx="6720840" cy="365760"/>
          </a:xfrm>
          <a:prstGeom prst="rect">
            <a:avLst/>
          </a:prstGeom>
          <a:solidFill>
            <a:srgbClr val="F3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--rm -v ${PWD}:/usr/app/spfx -p 4321:4321 -p 35729:35729 m365pnp/spfx:latest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3694176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then  </a:t>
            </a:r>
            <a:pPr indent="0" marL="0">
              <a:buNone/>
            </a:pPr>
            <a:r>
              <a:rPr lang="en-US" sz="1000" dirty="0">
                <a:solidFill>
                  <a:srgbClr val="1B4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 @microsoft/sharepoint</a:t>
            </a:r>
            <a:pPr indent="0" marL="0">
              <a:buNone/>
            </a:pPr>
            <a:r>
              <a:rPr lang="en-US" sz="1000" b="1" dirty="0">
                <a:solidFill>
                  <a:srgbClr val="13A10E"/>
                </a:solidFill>
              </a:rPr>
              <a:t>   →   </a:t>
            </a:r>
            <a:pPr indent="0" marL="0">
              <a:buNone/>
            </a:pPr>
            <a:r>
              <a:rPr lang="en-US" sz="1000" dirty="0">
                <a:solidFill>
                  <a:srgbClr val="1B4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gulp serve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4160520"/>
            <a:ext cx="717804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4160520"/>
            <a:ext cx="109728" cy="207568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427024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Option 2  </a:t>
            </a:r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</a:rPr>
              <a:t>VS Code Dev Container / Codespaces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937760" y="4663440"/>
            <a:ext cx="292608" cy="292608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4663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49240" y="4626864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Add  </a:t>
            </a:r>
            <a:pPr indent="0" marL="0">
              <a:buNone/>
            </a:pPr>
            <a:r>
              <a:rPr lang="en-US" sz="950" dirty="0">
                <a:solidFill>
                  <a:srgbClr val="1B4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.devcontainer/devcontainer.json  →  "image": "m365pnp/spfx:1.23.2"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37760" y="5175504"/>
            <a:ext cx="292608" cy="292608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5175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49240" y="5138928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Open  </a:t>
            </a:r>
            <a:pPr indent="0" marL="0">
              <a:buNone/>
            </a:pPr>
            <a:r>
              <a:rPr lang="en-US" sz="950" dirty="0">
                <a:solidFill>
                  <a:srgbClr val="1B4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Reopen in Container  (or create a GitHub Codespace)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37760" y="5687568"/>
            <a:ext cx="292608" cy="292608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5687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49240" y="5650992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Serve  </a:t>
            </a:r>
            <a:pPr indent="0" marL="0">
              <a:buNone/>
            </a:pPr>
            <a:r>
              <a:rPr lang="en-US" sz="950" dirty="0">
                <a:solidFill>
                  <a:srgbClr val="1B4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heft start --nobrowser  →  workbench at https://localhost:4321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4465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5"/>
                </a:solidFill>
              </a:rPr>
              <a:t>hub.docker.com/r/m365pnp/spfx      •      Result = a portable SPFx dev environment your whole team can share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2026-07-03T17:54:36Z</dcterms:created>
  <dcterms:modified xsi:type="dcterms:W3CDTF">2026-07-03T17:54:36Z</dcterms:modified>
</cp:coreProperties>
</file>